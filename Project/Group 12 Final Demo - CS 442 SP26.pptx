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IBM Plex Sans"/>
      <p:regular r:id="rId13"/>
      <p:bold r:id="rId14"/>
      <p:italic r:id="rId15"/>
      <p:boldItalic r:id="rId16"/>
    </p:embeddedFont>
    <p:embeddedFont>
      <p:font typeface="Sora SemiBold"/>
      <p:regular r:id="rId17"/>
      <p:bold r:id="rId18"/>
    </p:embeddedFont>
    <p:embeddedFont>
      <p:font typeface="IBM Plex Sans Medium"/>
      <p:regular r:id="rId19"/>
      <p:bold r:id="rId20"/>
      <p:italic r:id="rId21"/>
      <p:boldItalic r:id="rId22"/>
    </p:embeddedFont>
    <p:embeddedFont>
      <p:font typeface="Sora Light"/>
      <p:regular r:id="rId23"/>
      <p:bold r:id="rId24"/>
    </p:embeddedFont>
    <p:embeddedFont>
      <p:font typeface="Sora ExtraLight"/>
      <p:regular r:id="rId25"/>
      <p:bold r:id="rId26"/>
    </p:embeddedFont>
    <p:embeddedFont>
      <p:font typeface="Sora"/>
      <p:regular r:id="rId27"/>
      <p:bold r:id="rId28"/>
    </p:embeddedFont>
    <p:embeddedFont>
      <p:font typeface="Sora Medium"/>
      <p:regular r:id="rId29"/>
      <p:bold r:id="rId30"/>
    </p:embeddedFont>
    <p:embeddedFont>
      <p:font typeface="IBM Plex Sans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SansSemiBold-regular.fntdata"/><Relationship Id="rId30" Type="http://schemas.openxmlformats.org/officeDocument/2006/relationships/font" Target="fonts/SoraMedium-bold.fntdata"/><Relationship Id="rId33" Type="http://schemas.openxmlformats.org/officeDocument/2006/relationships/font" Target="fonts/IBMPlexSansSemiBold-italic.fntdata"/><Relationship Id="rId32" Type="http://schemas.openxmlformats.org/officeDocument/2006/relationships/font" Target="fonts/IBMPlexSansSemiBold-bold.fntdata"/><Relationship Id="rId34" Type="http://schemas.openxmlformats.org/officeDocument/2006/relationships/font" Target="fonts/IBMPlexSansSemiBold-boldItalic.fntdata"/><Relationship Id="rId20" Type="http://schemas.openxmlformats.org/officeDocument/2006/relationships/font" Target="fonts/IBMPlexSansMedium-bold.fntdata"/><Relationship Id="rId22" Type="http://schemas.openxmlformats.org/officeDocument/2006/relationships/font" Target="fonts/IBMPlexSansMedium-boldItalic.fntdata"/><Relationship Id="rId21" Type="http://schemas.openxmlformats.org/officeDocument/2006/relationships/font" Target="fonts/IBMPlexSansMedium-italic.fntdata"/><Relationship Id="rId24" Type="http://schemas.openxmlformats.org/officeDocument/2006/relationships/font" Target="fonts/SoraLight-bold.fntdata"/><Relationship Id="rId23" Type="http://schemas.openxmlformats.org/officeDocument/2006/relationships/font" Target="fonts/SoraLight-regular.fntdata"/><Relationship Id="rId26" Type="http://schemas.openxmlformats.org/officeDocument/2006/relationships/font" Target="fonts/SoraExtraLight-bold.fntdata"/><Relationship Id="rId25" Type="http://schemas.openxmlformats.org/officeDocument/2006/relationships/font" Target="fonts/SoraExtraLight-regular.fntdata"/><Relationship Id="rId28" Type="http://schemas.openxmlformats.org/officeDocument/2006/relationships/font" Target="fonts/Sora-bold.fntdata"/><Relationship Id="rId27" Type="http://schemas.openxmlformats.org/officeDocument/2006/relationships/font" Target="fonts/Sora-regular.fntdata"/><Relationship Id="rId29" Type="http://schemas.openxmlformats.org/officeDocument/2006/relationships/font" Target="fonts/SoraMedium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IBMPlexSans-regular.fntdata"/><Relationship Id="rId12" Type="http://schemas.openxmlformats.org/officeDocument/2006/relationships/slide" Target="slides/slide6.xml"/><Relationship Id="rId15" Type="http://schemas.openxmlformats.org/officeDocument/2006/relationships/font" Target="fonts/IBMPlexSans-italic.fntdata"/><Relationship Id="rId14" Type="http://schemas.openxmlformats.org/officeDocument/2006/relationships/font" Target="fonts/IBMPlexSans-bold.fntdata"/><Relationship Id="rId17" Type="http://schemas.openxmlformats.org/officeDocument/2006/relationships/font" Target="fonts/SoraSemiBold-regular.fntdata"/><Relationship Id="rId16" Type="http://schemas.openxmlformats.org/officeDocument/2006/relationships/font" Target="fonts/IBMPlexSans-boldItalic.fntdata"/><Relationship Id="rId19" Type="http://schemas.openxmlformats.org/officeDocument/2006/relationships/font" Target="fonts/IBMPlexSansMedium-regular.fntdata"/><Relationship Id="rId18" Type="http://schemas.openxmlformats.org/officeDocument/2006/relationships/font" Target="fonts/Sora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9780e484bf_0_2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9780e484bf_0_2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9780e484bf_0_3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39780e484bf_0_3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9780e484bf_0_2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39780e484bf_0_2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9780e484bf_0_2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39780e484bf_0_2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9780e484bf_0_2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39780e484bf_0_2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9780e484bf_0_2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39780e484bf_0_2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Spring 2026 CS 442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4" name="Google Shape;934;p63"/>
          <p:cNvSpPr txBox="1"/>
          <p:nvPr>
            <p:ph type="title"/>
          </p:nvPr>
        </p:nvSpPr>
        <p:spPr>
          <a:xfrm>
            <a:off x="95775" y="1943750"/>
            <a:ext cx="6468000" cy="20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Art Exhibition Management System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35" name="Google Shape;935;p63"/>
          <p:cNvSpPr txBox="1"/>
          <p:nvPr>
            <p:ph idx="1" type="subTitle"/>
          </p:nvPr>
        </p:nvSpPr>
        <p:spPr>
          <a:xfrm>
            <a:off x="138475" y="4090275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Brian Daza	Aditi Ghosh	Abrar Makki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descr="Fine Art Exhibition and Sale | South Rim Village - Kolb Studio ..." id="936" name="Google Shape;93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1325" y="2891050"/>
            <a:ext cx="3679326" cy="1925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63"/>
          <p:cNvSpPr txBox="1"/>
          <p:nvPr>
            <p:ph idx="1" type="subTitle"/>
          </p:nvPr>
        </p:nvSpPr>
        <p:spPr>
          <a:xfrm>
            <a:off x="138467" y="3570642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Sora"/>
                <a:ea typeface="Sora"/>
                <a:cs typeface="Sora"/>
                <a:sym typeface="Sora"/>
              </a:rPr>
              <a:t>Group 12</a:t>
            </a:r>
            <a:endParaRPr sz="2100"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6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SP 26</a:t>
            </a:r>
            <a:endParaRPr sz="1400"/>
          </a:p>
        </p:txBody>
      </p:sp>
      <p:sp>
        <p:nvSpPr>
          <p:cNvPr id="943" name="Google Shape;943;p6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AEMS</a:t>
            </a:r>
            <a:endParaRPr/>
          </a:p>
        </p:txBody>
      </p:sp>
      <p:sp>
        <p:nvSpPr>
          <p:cNvPr id="944" name="Google Shape;944;p6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About the Project</a:t>
            </a:r>
            <a:endParaRPr sz="1700"/>
          </a:p>
        </p:txBody>
      </p:sp>
      <p:sp>
        <p:nvSpPr>
          <p:cNvPr id="945" name="Google Shape;945;p6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Relevant characteristics of the project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946" name="Google Shape;946;p6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Practices</a:t>
            </a:r>
            <a:endParaRPr sz="1700"/>
          </a:p>
        </p:txBody>
      </p:sp>
      <p:sp>
        <p:nvSpPr>
          <p:cNvPr id="947" name="Google Shape;947;p6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Software engineering practices and tools applied throughout the semester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948" name="Google Shape;948;p6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Demo</a:t>
            </a:r>
            <a:endParaRPr sz="1700"/>
          </a:p>
        </p:txBody>
      </p:sp>
      <p:sp>
        <p:nvSpPr>
          <p:cNvPr id="949" name="Google Shape;949;p6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Live demonstration of the application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950" name="Google Shape;950;p64"/>
          <p:cNvSpPr/>
          <p:nvPr/>
        </p:nvSpPr>
        <p:spPr>
          <a:xfrm>
            <a:off x="3918675" y="1860446"/>
            <a:ext cx="1408800" cy="3000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2"/>
              </a:gs>
              <a:gs pos="40000">
                <a:schemeClr val="accent2"/>
              </a:gs>
              <a:gs pos="100000">
                <a:schemeClr val="lt2"/>
              </a:gs>
            </a:gsLst>
            <a:lin ang="2698631" scaled="0"/>
          </a:gradFill>
          <a:ln>
            <a:noFill/>
          </a:ln>
          <a:effectLst>
            <a:outerShdw blurRad="357188" rotWithShape="0" algn="bl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Next</a:t>
            </a:r>
            <a:endParaRPr sz="17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1" name="Google Shape;951;p64"/>
          <p:cNvSpPr txBox="1"/>
          <p:nvPr>
            <p:ph idx="13" type="title"/>
          </p:nvPr>
        </p:nvSpPr>
        <p:spPr>
          <a:xfrm>
            <a:off x="115025" y="5027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65"/>
          <p:cNvSpPr txBox="1"/>
          <p:nvPr>
            <p:ph idx="2" type="body"/>
          </p:nvPr>
        </p:nvSpPr>
        <p:spPr>
          <a:xfrm>
            <a:off x="3629525" y="228600"/>
            <a:ext cx="5072400" cy="17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About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Art Exhibition Management System (AEMS) is a web-based application designed to streamline the management of art exhibitions.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It enables users to explore artworks, purchase items, and interact with exhibitions, while providing administrators with tools to manage artworks, customers, and orders efficiently.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57" name="Google Shape;957;p65"/>
          <p:cNvSpPr txBox="1"/>
          <p:nvPr>
            <p:ph idx="1" type="body"/>
          </p:nvPr>
        </p:nvSpPr>
        <p:spPr>
          <a:xfrm>
            <a:off x="2872808" y="1899150"/>
            <a:ext cx="4026000" cy="28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Characteristics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292100" lvl="0" marL="457200" rtl="0" algn="l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The management system consists of Role-based system (Admin &amp; Customer dashboards)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Real-time artwork browsing and purchasing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Centralized management of artworks, orders, and exhibitions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Interactive UI with modern design and 3D artwork support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58" name="Google Shape;958;p6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AEMS</a:t>
            </a:r>
            <a:endParaRPr/>
          </a:p>
        </p:txBody>
      </p:sp>
      <p:sp>
        <p:nvSpPr>
          <p:cNvPr id="959" name="Google Shape;959;p65"/>
          <p:cNvSpPr txBox="1"/>
          <p:nvPr>
            <p:ph idx="3" type="title"/>
          </p:nvPr>
        </p:nvSpPr>
        <p:spPr>
          <a:xfrm>
            <a:off x="115025" y="228600"/>
            <a:ext cx="39054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 Exhibition Management System</a:t>
            </a:r>
            <a:endParaRPr/>
          </a:p>
        </p:txBody>
      </p:sp>
      <p:sp>
        <p:nvSpPr>
          <p:cNvPr id="960" name="Google Shape;960;p6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 26</a:t>
            </a:r>
            <a:endParaRPr/>
          </a:p>
        </p:txBody>
      </p:sp>
      <p:sp>
        <p:nvSpPr>
          <p:cNvPr id="961" name="Google Shape;961;p65"/>
          <p:cNvSpPr txBox="1"/>
          <p:nvPr>
            <p:ph idx="1" type="body"/>
          </p:nvPr>
        </p:nvSpPr>
        <p:spPr>
          <a:xfrm>
            <a:off x="6802800" y="1863650"/>
            <a:ext cx="1939200" cy="16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Tech Stack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Frontend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: React, Typescript, MUI, CSS3, HTML5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Backend &amp; Database: 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: Django, Python, SQLite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/>
              <a:t>External APIs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: Art Institute of Chicago API, SerpAPI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66"/>
          <p:cNvSpPr txBox="1"/>
          <p:nvPr>
            <p:ph type="title"/>
          </p:nvPr>
        </p:nvSpPr>
        <p:spPr>
          <a:xfrm>
            <a:off x="3708725" y="1550992"/>
            <a:ext cx="2017800" cy="3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Practices</a:t>
            </a:r>
            <a:endParaRPr sz="14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u="sng">
                <a:latin typeface="Sora Light"/>
                <a:ea typeface="Sora Light"/>
                <a:cs typeface="Sora Light"/>
                <a:sym typeface="Sora Light"/>
              </a:rPr>
              <a:t>XP</a:t>
            </a:r>
            <a:endParaRPr sz="1400" u="sng"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Sora Light"/>
              <a:buChar char="-"/>
            </a:pPr>
            <a:r>
              <a:rPr lang="en" sz="1400">
                <a:latin typeface="Sora Light"/>
                <a:ea typeface="Sora Light"/>
                <a:cs typeface="Sora Light"/>
                <a:sym typeface="Sora Light"/>
              </a:rPr>
              <a:t>Pair programming</a:t>
            </a:r>
            <a:endParaRPr sz="1400"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ra Light"/>
              <a:buChar char="-"/>
            </a:pPr>
            <a:r>
              <a:rPr lang="en" sz="1400">
                <a:latin typeface="Sora Light"/>
                <a:ea typeface="Sora Light"/>
                <a:cs typeface="Sora Light"/>
                <a:sym typeface="Sora Light"/>
              </a:rPr>
              <a:t>Small releases</a:t>
            </a:r>
            <a:endParaRPr sz="1400"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ra Light"/>
              <a:buChar char="-"/>
            </a:pPr>
            <a:r>
              <a:rPr lang="en" sz="1400">
                <a:latin typeface="Sora Light"/>
                <a:ea typeface="Sora Light"/>
                <a:cs typeface="Sora Light"/>
                <a:sym typeface="Sora Light"/>
              </a:rPr>
              <a:t>Collective code</a:t>
            </a:r>
            <a:endParaRPr sz="14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u="sng">
                <a:latin typeface="Sora Light"/>
                <a:ea typeface="Sora Light"/>
                <a:cs typeface="Sora Light"/>
                <a:sym typeface="Sora Light"/>
              </a:rPr>
              <a:t>Scrum</a:t>
            </a:r>
            <a:endParaRPr sz="1400" u="sng"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Sora Light"/>
              <a:buChar char="-"/>
            </a:pPr>
            <a:r>
              <a:rPr lang="en" sz="1400">
                <a:latin typeface="Sora Light"/>
                <a:ea typeface="Sora Light"/>
                <a:cs typeface="Sora Light"/>
                <a:sym typeface="Sora Light"/>
              </a:rPr>
              <a:t>Weekly meetings </a:t>
            </a:r>
            <a:endParaRPr sz="1400"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67" name="Google Shape;967;p66"/>
          <p:cNvSpPr txBox="1"/>
          <p:nvPr>
            <p:ph idx="2" type="title"/>
          </p:nvPr>
        </p:nvSpPr>
        <p:spPr>
          <a:xfrm>
            <a:off x="7490025" y="15615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Version Control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Sora Light"/>
              <a:buChar char="-"/>
            </a:pPr>
            <a:r>
              <a:rPr lang="en" sz="1400">
                <a:latin typeface="Sora Light"/>
                <a:ea typeface="Sora Light"/>
                <a:cs typeface="Sora Light"/>
                <a:sym typeface="Sora Light"/>
              </a:rPr>
              <a:t>GitHub</a:t>
            </a:r>
            <a:endParaRPr sz="14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400"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68" name="Google Shape;968;p66"/>
          <p:cNvSpPr txBox="1"/>
          <p:nvPr>
            <p:ph idx="3" type="title"/>
          </p:nvPr>
        </p:nvSpPr>
        <p:spPr>
          <a:xfrm>
            <a:off x="5775575" y="15615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Tools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Sora Light"/>
              <a:buChar char="-"/>
            </a:pPr>
            <a:r>
              <a:rPr lang="en" sz="1400">
                <a:latin typeface="Sora Light"/>
                <a:ea typeface="Sora Light"/>
                <a:cs typeface="Sora Light"/>
                <a:sym typeface="Sora Light"/>
              </a:rPr>
              <a:t>Jira (Kanban)</a:t>
            </a:r>
            <a:endParaRPr sz="1400"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ra Light"/>
              <a:buChar char="-"/>
            </a:pPr>
            <a:r>
              <a:rPr lang="en" sz="1400">
                <a:latin typeface="Sora Light"/>
                <a:ea typeface="Sora Light"/>
                <a:cs typeface="Sora Light"/>
                <a:sym typeface="Sora Light"/>
              </a:rPr>
              <a:t>VSCode</a:t>
            </a:r>
            <a:endParaRPr sz="14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400"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69" name="Google Shape;969;p66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Software Engineering Practices</a:t>
            </a:r>
            <a:endParaRPr sz="4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66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AEMS</a:t>
            </a:r>
            <a:endParaRPr/>
          </a:p>
        </p:txBody>
      </p:sp>
      <p:sp>
        <p:nvSpPr>
          <p:cNvPr id="971" name="Google Shape;971;p66"/>
          <p:cNvSpPr txBox="1"/>
          <p:nvPr>
            <p:ph idx="6" type="title"/>
          </p:nvPr>
        </p:nvSpPr>
        <p:spPr>
          <a:xfrm>
            <a:off x="3708725" y="1102517"/>
            <a:ext cx="54240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Implemented Software Engineering Practices</a:t>
            </a:r>
            <a:endParaRPr sz="1600"/>
          </a:p>
        </p:txBody>
      </p:sp>
      <p:sp>
        <p:nvSpPr>
          <p:cNvPr id="972" name="Google Shape;972;p66"/>
          <p:cNvSpPr txBox="1"/>
          <p:nvPr>
            <p:ph idx="7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 26</a:t>
            </a:r>
            <a:endParaRPr/>
          </a:p>
        </p:txBody>
      </p:sp>
      <p:sp>
        <p:nvSpPr>
          <p:cNvPr id="973" name="Google Shape;973;p66"/>
          <p:cNvSpPr/>
          <p:nvPr/>
        </p:nvSpPr>
        <p:spPr>
          <a:xfrm flipH="1" rot="10800000">
            <a:off x="3820750" y="1627625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67"/>
          <p:cNvSpPr txBox="1"/>
          <p:nvPr>
            <p:ph type="title"/>
          </p:nvPr>
        </p:nvSpPr>
        <p:spPr>
          <a:xfrm>
            <a:off x="2758925" y="19708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  <p:sp>
        <p:nvSpPr>
          <p:cNvPr id="979" name="Google Shape;979;p67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AEMS</a:t>
            </a:r>
            <a:endParaRPr/>
          </a:p>
        </p:txBody>
      </p:sp>
      <p:sp>
        <p:nvSpPr>
          <p:cNvPr id="980" name="Google Shape;980;p67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 26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68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